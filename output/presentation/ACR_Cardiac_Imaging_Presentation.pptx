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Geographic Disparities in ACR-Accredited</a:t>
            </a:r>
            <a:br/>
            <a:r>
              <a:t>Cardiac Imaging Capacity</a:t>
            </a:r>
          </a:p>
          <a:p>
            <a:pPr algn="l">
              <a:spcBef>
                <a:spcPts val="2000"/>
              </a:spcBef>
              <a:defRPr sz="1600">
                <a:solidFill>
                  <a:srgbClr val="BFDBFE"/>
                </a:solidFill>
              </a:defRPr>
            </a:pPr>
            <a:r>
              <a:t>Cross-sectional ecologic analysis of CMR and CCT access across US counties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3C5FD"/>
                </a:solidFill>
              </a:defRPr>
            </a:pPr>
            <a:r>
              <a:t>JACC: Advances — Special Focus Issue on Health Equity in Cardiology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Cardiovascular disease remains the leading cause of death in the US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Advanced cardiac imaging (CMR, CCT) is critical for diagnosis and management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ACR accreditation represents a payer-recognized quality threshold (DRA 2005)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Geographic variation in access may contribute to outcome disparities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Hypothesis: Accredited capacity is concentrated in metro, low-vulnerability areas</a:t>
            </a:r>
          </a:p>
          <a:p>
            <a:pPr>
              <a:spcBef>
                <a:spcPts val="2400"/>
              </a:spcBef>
              <a:defRPr sz="1200" i="1">
                <a:solidFill>
                  <a:srgbClr val="4A5568"/>
                </a:solidFill>
              </a:defRPr>
            </a:pPr>
            <a:r>
              <a:t>Target: JACC: Advances — Brief Report (1,500 words, 1 figure, 1 table)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184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ACR Facility List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ACR Accredited Search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Facility locations (n=2,273)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ZIP-County Crosswalk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HUD USPS / Census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Geocode ZIP → County FIPS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Social Vulnerability Index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CDC/ATSDR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County SVI percentile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Rural-Urban Continuum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USDA 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Metro/nonmetro classification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Population (age ≥45)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ACS 5-year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2019–2023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Rate denominators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County 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Census TIGER/Line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Mapping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Analytic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Unit of analysis: US county (n = 3144); 50 states + DC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Primary outcome: Facilities per 100,000 adults aged ≥45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Descriptive: Stratified by SVI quartile and metro/nonmetro status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Correlation: Spearman rank (rate vs. SVI percentile)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Regression: Negative binomial (count ~ SVI + offset[log population])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IRR reported per 10-percentile increment in SVI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Sensitivity: Accredited-only; SVI quartile dummies; metro stratification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Results: Geographic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687 ACR-accredited CMR sites across 289 counties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1481 ACR-accredited CCT sites across 532 counties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90.8% of US counties have ZERO CMR facilities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83.1% of US counties have ZERO CCT facilities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Metropolitan counties (1186 of 3144) contain: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    – 98.1% of all CMR sites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    – 92.4% of all CCT 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Table 1: Capacity by SVI Quartile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Stratum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Counties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CMR Sites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CMR Counties (%)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CCT Sites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CCT Counties (%)</a:t>
                      </a:r>
                    </a:p>
                  </a:txBody>
                  <a:tcPr>
                    <a:solidFill>
                      <a:srgbClr val="3182C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3144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687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289 (9.2%)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1481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532 (16.9%)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Q1 (least 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786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338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162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Q4 (most vulnerable)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786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516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Metropolitan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Nonmetropolitan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1958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Results: Spearman Rank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Facility rate (per 100k adults ≥45) vs. SVI percentile (continuous):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Cardiac MRI:  ρ = 0.0079  (p = 0.6646)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Cardiac CT:   ρ = 0.0201  (p = 0.2681)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No significant linear correlation between SVI and facility rates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The disparity is primarily geographic (metro vs. nonmetro),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  not SVI-driven at the county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Results: Negative Binomial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Primary Model: Facility count ~ SVI (per 10-percentile) + offset(log pop ≥45)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CMR: IRR ≈ 0.99 (95% CI crosses 1.0) — not significant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CCT: IRR ≈ 1.02 (95% CI crosses 1.0) — not significant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Negative Binomial preferred over Poisson (lower AIC, overdispersed data)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Stratified: Nonmetro CMR shows borderline signal (IRR ~0.81, p=0.06)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→ In rural areas, higher SVI may be associated with fewer CMR sites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Figure 1: Choropleth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Two-panel county-level choropleth (Panel A: CMR, Panel B: CCT)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Sequential blue palette, 5 quantile bins among counties with ≥1 facility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Light gray: zero-facility counties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White: excluded from rate calculation (population &lt;1,000)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State boundaries overlaid for geographic reference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Albers Equal Area projection (EPSG:5070)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Delivered as vector PDF + 600 DPI PNG</a:t>
            </a:r>
          </a:p>
          <a:p>
            <a:pPr>
              <a:spcBef>
                <a:spcPts val="2400"/>
              </a:spcBef>
              <a:defRPr sz="1200" i="1">
                <a:solidFill>
                  <a:srgbClr val="4A5568"/>
                </a:solidFill>
              </a:defRPr>
            </a:pPr>
            <a:r>
              <a:t>See output/figures/figure1_choropleth.pdf for the publication-ready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1. Profound geographic gap: 91% of US counties lack ANY ACR CMR facility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2. Metro-nonmetro divide is the dominant access disparity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3. SVI alone does not predict accredited capacity at the county level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4. 5 states have ZERO CMR sites (AK, NM, SD, UT, WY)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5. Policy implications: Accreditation incentives should target rural areas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6. Limitation: ACR-only (excludes IAC cardiology-side programs)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Limitations: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ACR-only data — does not capture IAC-accredited facilities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Ecologic (county-level) — cannot infer individual access barriers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Cross-sectional — snapshot in time (May 2026)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Next Steps: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Incorporate IAC data for complete picture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Longitudinal analysis of accreditation growth trends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Patient-level travel-time/distance-to-facility analysis</a:t>
            </a:r>
          </a:p>
          <a:p>
            <a:pPr>
              <a:spcBef>
                <a:spcPts val="1200"/>
              </a:spcBef>
              <a:defRPr sz="1600">
                <a:solidFill>
                  <a:srgbClr val="1A1A1A"/>
                </a:solidFill>
              </a:defRPr>
            </a:pPr>
            <a:r>
              <a:t>• Link to cardiovascular outcome registries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br/>
            <a:pPr algn="ctr">
              <a:defRPr sz="2000">
                <a:solidFill>
                  <a:srgbClr val="BFDBFE"/>
                </a:solidFill>
              </a:defRPr>
            </a:pPr>
            <a:r>
              <a:t>Questions &amp; Discussion</a:t>
            </a:r>
          </a:p>
          <a:p>
            <a:br/>
            <a:pPr algn="ctr">
              <a:defRPr sz="1400">
                <a:solidFill>
                  <a:srgbClr val="93C5FD"/>
                </a:solidFill>
              </a:defRPr>
            </a:pPr>
            <a:r>
              <a:t>acr-cardiac-dashboard.hf.space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