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Geographic Disparities in ACR-Accredited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Cardiac Imaging Capacity</a:t>
            </a:r>
          </a:p>
          <a:p>
            <a:pPr>
              <a:spcBef>
                <a:spcPts val="3000"/>
              </a:spcBef>
              <a:defRPr sz="1800">
                <a:solidFill>
                  <a:srgbClr val="BBDEFB"/>
                </a:solidFill>
              </a:defRPr>
            </a:pPr>
            <a:r>
              <a:t>Cross-Sectional Ecologic Analysis of CMR and CCT Access</a:t>
            </a:r>
          </a:p>
          <a:p>
            <a:pPr>
              <a:spcBef>
                <a:spcPts val="800"/>
              </a:spcBef>
              <a:defRPr sz="1800">
                <a:solidFill>
                  <a:srgbClr val="BBDEFB"/>
                </a:solidFill>
              </a:defRPr>
            </a:pPr>
            <a:r>
              <a:t>Across 3,144 US Counties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486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0CAF9"/>
                </a:solidFill>
              </a:defRPr>
            </a:pPr>
            <a:r>
              <a:t>Target: JACC: Advances — Special Focus Issue on Health Equity in Cardiology</a:t>
            </a:r>
          </a:p>
          <a:p>
            <a:pPr>
              <a:defRPr sz="1100">
                <a:solidFill>
                  <a:srgbClr val="90CAF9"/>
                </a:solidFill>
              </a:defRPr>
            </a:pPr>
            <a:r>
              <a:t>Submission Deadline: June 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Abbreviations &amp; Key Definitions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Understanding the terminology used throughout this presentation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32261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Abbreviation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Full Term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ACR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American College of Radiology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Accrediting body for imaging facilities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Cardiac Magnetic Resonance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MRI of the heart (structure, function, tissue characterization)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CCT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Cardiac Computed Tomography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CT imaging of the heart (coronary CTA, calcium scoring)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SVI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Social Vulnerability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CDC composite score (0–1) measuring community vulnerability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RUCC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Rural-Urban Continuum Code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USDA 9-level metro/rural classification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IRR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Incidence Rate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Regression output: multiplicative effect on rate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IAC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Intersocietal Accreditation Commission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Alternative accreditor (cardiology programs)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DRA 2005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Deficit Reduction Act of 2005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Federal law requiring accreditation for reimbursement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ACS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American Community Survey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Census Bureau population data source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FIPS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Federal Information Processing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12121"/>
                          </a:solidFill>
                        </a:defRPr>
                      </a:pPr>
                      <a:r>
                        <a:t>Numeric codes for US geographic areas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 b="1">
                <a:solidFill>
                  <a:srgbClr val="1565C0"/>
                </a:solidFill>
              </a:defRPr>
            </a:pPr>
            <a:r>
              <a:t>The Problem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Cardiovascular disease is the #1 cause of death in the United States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Advanced cardiac imaging (CMR, CCT) is essential for accurate diagnosis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Access to these specialized modalities may not be equitably distributed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600" b="1">
                <a:solidFill>
                  <a:srgbClr val="1565C0"/>
                </a:solidFill>
              </a:defRPr>
            </a:pPr>
            <a:r>
              <a:t>The Quality Threshold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ACR accreditation = payer-recognized quality standard (Deficit Reduction Act 2005)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Facilities without ACR accreditation may face reimbursement challenges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• This analysis focuses specifically on ACR-accredited capacity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600" b="1">
                <a:solidFill>
                  <a:srgbClr val="C62828"/>
                </a:solidFill>
              </a:defRPr>
            </a:pPr>
            <a:r>
              <a:t>Hypothesis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ACR-accredited cardiac imaging capacity is concentrated in metropolitan,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low-social-vulnerability regions, mirroring cardiovascular outcome disparities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Sources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Six datasets linked at the county level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67926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ACR Facility List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ACR Accredited Search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2,273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Facility locations &amp; modality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ZIP–County Crosswalk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US Census / HUD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~33,000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Geocode ZIP → County FIPS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Social Vulnerability Index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CDC/ATSDR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3,144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County SVI percentile (0–1)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Rural-Urban Continuum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USDA 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3,144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Metro/nonmetro classification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Population (age ≥45)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ACS 5-year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2019–2023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3,144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Rate denominators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County Boundaries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Census TIGER/Line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3,144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Choropleth mapping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Dataset 1: ACR Accredited Facilities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Provided by Dr. Naeem — extracted May 20,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1565C0"/>
                </a:solidFill>
              </a:defRPr>
            </a:pPr>
            <a:r>
              <a:t>Composition: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725 Cardiac MRI sites (MRAP program, Cardiac module)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1,548 Cardiac CT sites (CTAP program, Cardiac module)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Total: 2,273 facility records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1565C0"/>
                </a:solidFill>
              </a:defRPr>
            </a:pPr>
            <a:r>
              <a:t>Status: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2,250 "Accredited" + 23 "Under Review"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100% have ZIP code populated (enables geocoding)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63% have NPI populated (1,430 of 2,273)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1565C0"/>
                </a:solidFill>
              </a:defRPr>
            </a:pPr>
            <a:r>
              <a:t>Columns used: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ZIP Code → county geocoding via crosswalk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Modality (MRAP/CTAP) → CMR vs CCT classification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Module ("Cardiac") → inclusion filter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Status → inclusion criteria (Accredited or Under Review)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Datasets 3–4: Social Vulnerability &amp; Rurality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How we classify counties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00897B"/>
                </a:solidFill>
              </a:defRPr>
            </a:pPr>
            <a:r>
              <a:t>CDC Social Vulnerability Index (SVI) — 2022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Composite measure across 4 themes: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1. Socioeconomic Status (poverty, unemployment, income)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2. Household Characteristics &amp; Disability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3. Racial &amp; Ethnic Minority Status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4. Housing Type &amp; Transportation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→ RPL_THEMES: overall percentile rank (0 = least, 1 = most vulnerable)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→ Quartiles: Q1 (least) to Q4 (most vulnerable)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7B1FA2"/>
                </a:solidFill>
              </a:defRPr>
            </a:pPr>
            <a:r>
              <a:t>USDA Rural-Urban Continuum Codes (RUCC) — 2023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9-level classification: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• Codes 1–3: Metropolitan (≥ metro area adjacent)</a:t>
            </a: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  • Codes 4–9: Nonmetropolitan (urban pop &lt; 20k to completely rural)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→ Binary: Metropolitan (1) vs. Nonmetropolitan (0)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Statistical Methods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Three complementary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1. Descriptive Statistics (Table 1)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Facility counts and rates stratified by SVI quartile and metro status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Median (IQR) of per-capita rate across county strata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2. Spearman Rank Correlation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Non-parametric correlation between facility rate and SVI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Appropriate for heavily skewed data (most counties = 0)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3. Negative Binomial Regression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Model:  Count ~ NegBin(μ, α)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log(μ) = β₀ + β₁ × SVI_per_10 + offset(log population ≥45)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Reports IRR (Incidence Rate Ratio) per 10-percentile SVI increase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Chosen over Poisson due to overdispersion (variance &gt;&gt; mean)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4. Sensitivity Analyses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Accredited-only (exclude Under Review) | • SVI quartile dummies | • Metro stratification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Results: The Scale of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Total ACR-Accredited Cardiac Imaging Facilities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687 Cardiac MRI (CMR) sites across 289 counties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1481 Cardiac CT (CCT) sites across 532 counties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C62828"/>
                </a:solidFill>
              </a:defRPr>
            </a:pPr>
            <a:r>
              <a:t>Counties with ZERO Facilities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90.8% of US counties have NO CMR facility (2855 counties)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83.1% of US counties have NO CCT facility (2612 counties)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7B1FA2"/>
                </a:solidFill>
              </a:defRPr>
            </a:pPr>
            <a:r>
              <a:t>The Metro–Rural Divide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Metro counties (1186 of 3144, 37.7%) contain: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  – 98.1% of ALL CMR sites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  – 92.4% of ALL CCT sites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F9A825"/>
                </a:solidFill>
              </a:defRPr>
            </a:pPr>
            <a:r>
              <a:t>Five States with Zero CMR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Alaska • New Mexico • South Dakota • Utah • Wyoming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Results: Statistical Analysis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Correlation and regression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Spearman Rank Correlation (Rate vs. SVI)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CMR: ρ = 0.0079, p = 0.6646  → Not significant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CCT: ρ = 0.0201, p = 0.2681  → Not significant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Negative Binomial Regression — Primary Model</a:t>
            </a:r>
          </a:p>
          <a:p>
            <a:pPr>
              <a:spcBef>
                <a:spcPts val="800"/>
              </a:spcBef>
              <a:defRPr sz="1300" b="0">
                <a:solidFill>
                  <a:srgbClr val="616161"/>
                </a:solidFill>
              </a:defRPr>
            </a:pPr>
            <a:r>
              <a:t>   Per 10-percentile increase in SVI: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CMR: IRR ≈ 0.99 (95% CI includes 1.0, p &gt; 0.05) → No association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CCT: IRR ≈ 1.02 (95% CI includes 1.0, p &gt; 0.05) → No association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Model Fit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Negative Binomial strongly preferred over Poisson (ΔAIC &gt; 30)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Confirms overdispersion in facility count data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2E7D32"/>
                </a:solidFill>
              </a:defRPr>
            </a:pPr>
            <a:r>
              <a:t>Interpretation</a:t>
            </a:r>
          </a:p>
          <a:p>
            <a:pPr>
              <a:spcBef>
                <a:spcPts val="800"/>
              </a:spcBef>
              <a:defRPr sz="1400" b="1">
                <a:solidFill>
                  <a:srgbClr val="212121"/>
                </a:solidFill>
              </a:defRPr>
            </a:pPr>
            <a:r>
              <a:t>   The primary disparity is GEOGRAPHIC (metro vs. rural),</a:t>
            </a:r>
          </a:p>
          <a:p>
            <a:pPr>
              <a:spcBef>
                <a:spcPts val="800"/>
              </a:spcBef>
              <a:defRPr sz="1400" b="1">
                <a:solidFill>
                  <a:srgbClr val="212121"/>
                </a:solidFill>
              </a:defRPr>
            </a:pPr>
            <a:r>
              <a:t>   not driven by social vulnerability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Sensitivity Analyses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Confirming robustness of findings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92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Modification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Accredited-only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Exclude 23 Under Review facilities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Virtually identical (only 1% of cohort)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SVI Quartile Dummies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Q2, Q3, Q4 vs. Q1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No consistent dose-response for CMR</a:t>
                      </a:r>
                    </a:p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CCT Q3 borderline (IRR≈1.31, p=0.04)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Metro stratified — CMR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Nonmetro counties only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Borderline (IRR≈0.81, p=0.06)</a:t>
                      </a:r>
                    </a:p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Higher SVI → fewer rural CMR sites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Metro stratified — CCT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Nonmetro counties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Not significant (p=0.62)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Metro stratified — CCT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Metro counties only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121"/>
                          </a:solidFill>
                        </a:defRPr>
                      </a:pPr>
                      <a:r>
                        <a:t>Borderline positive (IRR≈1.04, p=0.05)</a:t>
                      </a:r>
                    </a:p>
                  </a:txBody>
                  <a:tcPr>
                    <a:solidFill>
                      <a:srgbClr val="E8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Figure 1: Choropleth Map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Geographic visualization of the disparity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Two-panel county-level choropleth of the United States</a:t>
            </a:r>
          </a:p>
          <a:p>
            <a:pPr>
              <a:spcBef>
                <a:spcPts val="800"/>
              </a:spcBef>
              <a:defRPr sz="6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Panel A: Cardiac MRI (CMR) rate per 100,000 adults ≥45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Panel B: Cardiac CT (CCT) rate per 100,000 adults ≥45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1565C0"/>
                </a:solidFill>
              </a:defRPr>
            </a:pPr>
            <a:r>
              <a:t>Design specifications: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Full US map including Alaska and Hawaii insets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5 quantile bins (among counties with ≥1 facility)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Vibrant sequential color palettes (teal for CMR, purple for CCT)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Light gray = zero-facility counties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White = excluded (adult ≥45 population &lt; 1,000)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State boundaries overlaid in dark gray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Albers Equal Area projection (EPSG:5070)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• Vector PDF for journal + 600 DPI PNG fallback</a:t>
            </a:r>
          </a:p>
          <a:p>
            <a:pPr>
              <a:spcBef>
                <a:spcPts val="800"/>
              </a:spcBef>
              <a:defRPr sz="8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200" b="0">
                <a:solidFill>
                  <a:srgbClr val="616161"/>
                </a:solidFill>
              </a:defRPr>
            </a:pPr>
            <a:r>
              <a:t>See: output/requested/Figure1_Choropleth.pdf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Limitations</a:t>
            </a:r>
          </a:p>
          <a:p>
            <a:pPr>
              <a:defRPr sz="1200">
                <a:solidFill>
                  <a:srgbClr val="BBDEFB"/>
                </a:solidFill>
              </a:defRPr>
            </a:pPr>
            <a:r>
              <a:t>Important caveats for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C62828"/>
                </a:solidFill>
              </a:defRPr>
            </a:pPr>
            <a:r>
              <a:t>1. ACR-Only Scope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Does not include IAC-accredited facilities (cardiology-side programs)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Example: Utah has major academic CMR programs → likely IAC-accredited</a:t>
            </a:r>
          </a:p>
          <a:p>
            <a:pPr>
              <a:spcBef>
                <a:spcPts val="800"/>
              </a:spcBef>
              <a:defRPr sz="6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C62828"/>
                </a:solidFill>
              </a:defRPr>
            </a:pPr>
            <a:r>
              <a:t>2. Ecologic Design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County-level analysis cannot infer individual patient access or travel burden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A county without a facility may have access via neighboring county</a:t>
            </a:r>
          </a:p>
          <a:p>
            <a:pPr>
              <a:spcBef>
                <a:spcPts val="800"/>
              </a:spcBef>
              <a:defRPr sz="6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C62828"/>
                </a:solidFill>
              </a:defRPr>
            </a:pPr>
            <a:r>
              <a:t>3. Cross-Sectional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Single time-point (May 2026); cannot assess temporal trends</a:t>
            </a:r>
          </a:p>
          <a:p>
            <a:pPr>
              <a:spcBef>
                <a:spcPts val="800"/>
              </a:spcBef>
              <a:defRPr sz="6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C62828"/>
                </a:solidFill>
              </a:defRPr>
            </a:pPr>
            <a:r>
              <a:t>4. ZIP Geocoding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Multi-county ZIPs resolved by residential share; minor misclassification possible</a:t>
            </a:r>
          </a:p>
          <a:p>
            <a:pPr>
              <a:spcBef>
                <a:spcPts val="800"/>
              </a:spcBef>
              <a:defRPr sz="6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C62828"/>
                </a:solidFill>
              </a:defRPr>
            </a:pPr>
            <a:r>
              <a:t>5. Rate Denominator</a:t>
            </a:r>
          </a:p>
          <a:p>
            <a:pPr>
              <a:spcBef>
                <a:spcPts val="800"/>
              </a:spcBef>
              <a:defRPr sz="1300" b="0">
                <a:solidFill>
                  <a:srgbClr val="212121"/>
                </a:solidFill>
              </a:defRPr>
            </a:pPr>
            <a:r>
              <a:t>   Adults ≥45 is clinically motivated but may not perfectly match imaging-eligible population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Implications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2E7D32"/>
                </a:solidFill>
              </a:defRPr>
            </a:pPr>
            <a:r>
              <a:t>Policy Implications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Accreditation incentive programs should prioritize rural areas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Telehealth/remote reading may partially bridge geographic barriers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The DRA 2005 framework may inadvertently widen access gaps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1565C0"/>
                </a:solidFill>
              </a:defRPr>
            </a:pPr>
            <a:r>
              <a:t>Future Directions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Incorporate IAC data for complete national picture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Patient-level travel-time analysis (drive-time to nearest facility)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Longitudinal tracking of accreditation growth/closures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Link to cardiovascular outcome registries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Examine facility-level volume and quality metrics</a:t>
            </a:r>
          </a:p>
          <a:p>
            <a:pPr>
              <a:spcBef>
                <a:spcPts val="800"/>
              </a:spcBef>
              <a:defRPr sz="1000" b="0">
                <a:solidFill>
                  <a:srgbClr val="212121"/>
                </a:solidFill>
              </a:defRPr>
            </a:pPr>
          </a:p>
          <a:p>
            <a:pPr>
              <a:spcBef>
                <a:spcPts val="800"/>
              </a:spcBef>
              <a:defRPr sz="1500" b="1">
                <a:solidFill>
                  <a:srgbClr val="7B1FA2"/>
                </a:solidFill>
              </a:defRPr>
            </a:pPr>
            <a:r>
              <a:t>Publication Plan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Brief Report format: ~1,500 words, 1 figure, 1 table, ≤10 references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JACC: Advances — Best Practices Addressing Health Equity in Cardiology</a:t>
            </a:r>
          </a:p>
          <a:p>
            <a:pPr>
              <a:spcBef>
                <a:spcPts val="800"/>
              </a:spcBef>
              <a:defRPr sz="1400" b="0">
                <a:solidFill>
                  <a:srgbClr val="212121"/>
                </a:solidFill>
              </a:defRPr>
            </a:pPr>
            <a:r>
              <a:t>   • Submission deadline: June 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br/>
            <a:pPr algn="ctr">
              <a:defRPr sz="2200">
                <a:solidFill>
                  <a:srgbClr val="BBDEFB"/>
                </a:solidFill>
              </a:defRPr>
            </a:pPr>
            <a:r>
              <a:t>Questions &amp; Discussion</a:t>
            </a:r>
          </a:p>
          <a:p>
            <a:pPr algn="ctr">
              <a:spcBef>
                <a:spcPts val="3000"/>
              </a:spcBef>
              <a:defRPr sz="1300">
                <a:solidFill>
                  <a:srgbClr val="90CAF9"/>
                </a:solidFill>
              </a:defRPr>
            </a:pPr>
            <a:r>
              <a:t>All code, data, and outputs archived for reproducibility</a:t>
            </a:r>
          </a:p>
          <a:p>
            <a:pPr algn="ctr">
              <a:defRPr sz="1200">
                <a:solidFill>
                  <a:srgbClr val="64B5F6"/>
                </a:solidFill>
              </a:defRPr>
            </a:pPr>
            <a:r>
              <a:t>github.com/abdulrazakucc/geo-spatial-analysis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