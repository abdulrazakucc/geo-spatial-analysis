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FC3F7"/>
                </a:solidFill>
              </a:defRPr>
            </a:pPr>
            <a:r>
              <a:t>Geographic Disparities in ACR-Accredited</a:t>
            </a:r>
            <a:br/>
            <a:r>
              <a:t>Cardiac Imaging Capacity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Cross-Sectional Ecologic Analysis of 3,144 US Counties</a:t>
            </a:r>
          </a:p>
          <a:p>
            <a:br/>
            <a:pPr algn="ctr">
              <a:defRPr sz="1600">
                <a:solidFill>
                  <a:srgbClr val="FFD54F"/>
                </a:solidFill>
              </a:defRPr>
            </a:pPr>
            <a:r>
              <a:t>Abdul Razak, MD  |  Naeem Ahmad, 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FC3F7"/>
                </a:solidFill>
              </a:defRPr>
            </a:pPr>
            <a:r>
              <a:t>Background and Rationale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CMR = Cardiac MRI; CCT = Cardiac CT; ACR = American College of Radiology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ACR accreditation is REQUIRED for Medicare reimbursement (Deficit Reduction Act 2005)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Without accreditation, facilities cannot bill CMS for advanced cardiac imaging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Question: Is cardiac imaging access equitably distributed across US counties?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Hypothesis: Socially vulnerable communities may have fewer accredited sites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SVI = CDC Social Vulnerability Index (disaster preparedness composite)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ADI = Area Deprivation Index (socioeconomic disadvantage composite)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FC3F7"/>
                </a:solidFill>
              </a:defRPr>
            </a:pPr>
            <a:r>
              <a:t>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Unit of analysis: 3,144 US counties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Outcome: Count of ACR-accredited CMR and CCT facilities per county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Predictor: SVI percentile (primary), ADI percentile (sensitivity)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Model: Negative Binomial regression with population offset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- Accounts for overdispersion (variance &gt;&gt; mean)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- Offset = ln(adults 45+) converts count to rate model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- IRR per 10-percentile increase in vulnerability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Exclusion: 106 counties with &lt;1,000 adults 45+ (prevents unstable rates)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Final analytic sample: n = 3,038 (SVI) or n = 3,029 (ADI)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FC3F7"/>
                </a:solidFill>
              </a:defRPr>
            </a:pPr>
            <a:r>
              <a:t>Descriptive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725 CMR facilities in 299 counties (9.5% of US counties)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1,548 CCT facilities in 553 counties (17.6% of US counties)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90.5% of counties have ZERO CMR sites; 82.4% have ZERO CCT sites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Metropolitan counties (37.3% of all counties) contain: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  - 98.1% of all CMR facilities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  - 92.4% of all CCT facilities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The dominant disparity is GEOGRAPHIC (metro vs rural), not socioeconomic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FC3F7"/>
                </a:solidFill>
              </a:defRPr>
            </a:pPr>
            <a:r>
              <a:t>Primary Results: SVI Regression (Null)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CMR: IRR = 0.992, 95% CI 0.952 to 1.033, p = 0.681 (NOT significant)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CCT: IRR = 1.020, 95% CI 0.989 to 1.053, p = 0.213 (NOT significant)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Interpretation: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SVI does NOT predict where cardiac imaging facilities are located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Social vulnerability (as measured by CDC SVI) shows no association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with either CMR or CCT accreditation rates at the county level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Spearman correlations also null (CMR rho=0.008, CCT rho=0.023)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FC3F7"/>
                </a:solidFill>
              </a:defRPr>
            </a:pPr>
            <a:r>
              <a:t>Sensitivity Analysis: ADI Reveals CMR Disparity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66BB6A"/>
                </a:solidFill>
              </a:defRPr>
            </a:pPr>
            <a:r>
              <a:t>CMR: IRR = 0.937, 95% CI 0.900 to 0.976, p = 0.002 (SIGNIFICANT)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r>
              <a:t>CCT: IRR = 0.979, 95% CI 0.949 to 1.010, p = 0.177 (not significant)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700" b="1">
                <a:solidFill>
                  <a:srgbClr val="FFD54F"/>
                </a:solidFill>
              </a:defRPr>
            </a:pPr>
            <a:r>
              <a:t>Key Finding: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r>
              <a:t>  For every 10-percentile increase in area deprivation,</a:t>
            </a:r>
          </a:p>
          <a:p>
            <a:pPr>
              <a:spcAft>
                <a:spcPts val="400"/>
              </a:spcAft>
              <a:defRPr sz="1700">
                <a:solidFill>
                  <a:srgbClr val="66BB6A"/>
                </a:solidFill>
              </a:defRPr>
            </a:pPr>
            <a:r>
              <a:t>  CMR facility rates DECREASE by 6.3%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FFD54F"/>
                </a:solidFill>
              </a:defRPr>
            </a:pPr>
            <a:r>
              <a:t>Why ADI works where SVI fails: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r>
              <a:t>  ADI measures socioeconomic disadvantage (income, education, employment)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r>
              <a:t>  SVI includes disaster-related themes (minority status, transport) less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r>
              <a:t>  relevant to healthcare infrastructure investment decisions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FC3F7"/>
                </a:solidFill>
              </a:defRPr>
            </a:pPr>
            <a: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1. The metro/rural divide is the PRIMARY driver of cardiac imaging access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2. SVI (CDC) does NOT predict facility distribution (p &gt; 0.2 for both)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3. ADI reveals a SIGNIFICANT socioeconomic gradient for CMR (p = 0.002)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 - More deprived counties have fewer CMR sites (6.3% less per 10-pctl)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 - CCT is unaffected (more widely distributed: 1,548 vs 725 sites)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4. CMR is more specialized and rarer, making it more sensitive to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 socioeconomic factors in facility siting decisions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5. Policy implication: Expansion efforts should target high-ADI rural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 counties that currently lack any advanced cardiac imaging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FC3F7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1. Incorporate IAC-accredited facilities (broader capture)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2. Add temporal analysis (year-over-year accreditation trends)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3. Patient-level outcomes linkage (cardiac mortality, event rates)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4. Travel-time analysis (drive time to nearest accredited site)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5. Manuscript preparation for Radiology or JACC Imaging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